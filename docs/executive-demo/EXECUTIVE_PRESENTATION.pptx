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not with a feature list. The single sentence above is the entire differentiation story — everything else in this deck is that sentence applied to a specific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on #3 last. It's the bridge into Slide 3 — the other two tools solve #1 and #2; almost nothing on the market seriously solves #3.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architecture slide, not the trust slide — trust is next. Here you're establishing that there are two distinct systems at all, which most audiences assume is "just one AI."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"object equality" line is for the CTO in the room — it tells them this isn't a policy, it's a property the test suite enforces on every commit.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bullet pre-empts a scope question from the CMO — say it before they ask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"show, don't tell" slide — segue directly into the live demo from here if the room is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only one slide gets remembered, this is the one — it's the visual proof of Slide 4's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to get IT/security sign-off in the same meeting as clinical sign-off — don't skip it even in a clinically-focused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let "zero" sound like marketing hyperbole — the mechanism, not the number, is the argument. Point back to Slide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this slide with a specific ask — a date for Week 1 to start, not a vague "let's follow up."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FFFFFF"/>
                </a:solidFill>
                <a:latin typeface="Calibri"/>
              </a:defRPr>
            </a:pPr>
            <a:r>
              <a:t>Veritas-Medica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2900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AEC9E8"/>
                </a:solidFill>
                <a:latin typeface="Calibri"/>
              </a:defRPr>
            </a:pPr>
            <a:r>
              <a:t>The Zero-Hallucination Neuro-Symbolic Clinical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66344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i="1" sz="1800">
                <a:solidFill>
                  <a:srgbClr val="8FA9C7"/>
                </a:solidFill>
              </a:defRPr>
            </a:pPr>
            <a:r>
              <a:t>“AI that writes prose. A graph that owns the facts.”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E86DE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B1F3A"/>
                </a:solidFill>
                <a:latin typeface="Calibri"/>
              </a:defRPr>
            </a:pPr>
            <a:r>
              <a:t>The Hospital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A33"/>
                </a:solidFill>
                <a:latin typeface="Calibri"/>
              </a:defRPr>
            </a:pPr>
            <a:r>
              <a:t>•  Clinician burnout from documentation load — physicians spend an estimated 3+ hours/day inside the EHR (target, industry benchmark), much of it manual note-writing.</a:t>
            </a:r>
          </a:p>
          <a:p>
            <a:pPr>
              <a:spcAft>
                <a:spcPts val="1000"/>
              </a:spcAft>
              <a:defRPr sz="2000">
                <a:solidFill>
                  <a:srgbClr val="222A33"/>
                </a:solidFill>
                <a:latin typeface="Calibri"/>
              </a:defRPr>
            </a:pPr>
            <a:r>
              <a:t>•  NPHIES claim rejection — industry-reported rejection rates of 12–18% (target, industry benchmark), driven by ICD-10-AM ↔ SBS/SFDA code mismatches and missing pre-authorization, discovered after submission.</a:t>
            </a:r>
          </a:p>
          <a:p>
            <a:pPr>
              <a:spcAft>
                <a:spcPts val="1000"/>
              </a:spcAft>
              <a:defRPr sz="2000">
                <a:solidFill>
                  <a:srgbClr val="222A33"/>
                </a:solidFill>
                <a:latin typeface="Calibri"/>
              </a:defRPr>
            </a:pPr>
            <a:r>
              <a:t>•  Liability risk from generative AI — any LLM-based clinical tool can state a drug interaction, a dose, or a diagnosis that sounds authoritative and is simply wrong. In a regulated setting that is not a UX bug — it is patient-safety and liability exposure.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778"/>
                </a:solidFill>
              </a:defRPr>
            </a:pPr>
            <a:r>
              <a:t>Veritas-Medica —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778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E86DE"/>
                </a:solidFill>
                <a:latin typeface="Calibri"/>
              </a:defRPr>
            </a:pPr>
            <a:r>
              <a:t>THE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B1F3A"/>
                </a:solidFill>
                <a:latin typeface="Calibri"/>
              </a:defRPr>
            </a:pPr>
            <a:r>
              <a:t>The Breakthrough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A33"/>
                </a:solidFill>
                <a:latin typeface="Calibri"/>
              </a:defRPr>
            </a:pPr>
            <a:r>
              <a:t>•  Ambient multi-agent interface — a scribe agent drafts structured notes; pharmacist, consultant, and NPHIES/billing agents sit alongside it, each specialized to one concern.</a:t>
            </a:r>
          </a:p>
          <a:p>
            <a:pPr>
              <a:spcAft>
                <a:spcPts val="1000"/>
              </a:spcAft>
              <a:defRPr sz="1900">
                <a:solidFill>
                  <a:srgbClr val="222A33"/>
                </a:solidFill>
                <a:latin typeface="Calibri"/>
              </a:defRPr>
            </a:pPr>
            <a:r>
              <a:t>•  Neuro-Symbolic Causal Reasoning Engine (NSCRE) — a Neo4j knowledge graph holding the patient's medications, conditions, and labs (the Patient-Specific Knowledge Graph), plus reference graphs for drug-interaction, renal-dose-safety, and NPHIES-necessity rules.</a:t>
            </a:r>
          </a:p>
          <a:p>
            <a:pPr>
              <a:spcAft>
                <a:spcPts val="1000"/>
              </a:spcAft>
              <a:defRPr sz="1900">
                <a:solidFill>
                  <a:srgbClr val="222A33"/>
                </a:solidFill>
                <a:latin typeface="Calibri"/>
              </a:defRPr>
            </a:pPr>
            <a:r>
              <a:t>•  Every clinical fact an agent surfaces is the result of a Cypher traversal against this graph — not a model's best guess.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2120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i="1" b="1" sz="1900">
                <a:solidFill>
                  <a:srgbClr val="2E86DE"/>
                </a:solidFill>
              </a:defRPr>
            </a:pPr>
            <a:r>
              <a:t>Agents decide what to ask the graph and how to phrase the answer. The graph decides what is true.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778"/>
                </a:solidFill>
              </a:defRPr>
            </a:pPr>
            <a:r>
              <a:t>Veritas-Medica —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778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E86DE"/>
                </a:solidFill>
                <a:latin typeface="Calibri"/>
              </a:defRPr>
            </a:pPr>
            <a:r>
              <a:t>TRUST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B1F3A"/>
                </a:solidFill>
                <a:latin typeface="Calibri"/>
              </a:defRPr>
            </a:pPr>
            <a:r>
              <a:t>Factual Safety Guarantee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5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572000"/>
                <a:gridCol w="3749039"/>
              </a:tblGrid>
              <a:tr h="67056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Job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Can it invent a fact?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NSCRE (Neo4j + Cypher)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Determine drug interactions, renal dose limits, NPHIES necessity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No — deterministic graph query, same input always produces the same output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DeepSeek (LLM)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Turn the graph's JSON result into a clean sentence for the clinician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No — scoped to reformat only; every fact it touches was already produced by NSCRE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7947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A33"/>
                </a:solidFill>
                <a:latin typeface="Calibri"/>
              </a:defRPr>
            </a:pPr>
            <a:r>
              <a:t>•  If NSCRE finds zero findings, the language model is never even called — nothing to reformat, so no prose is generated at all.</a:t>
            </a:r>
          </a:p>
          <a:p>
            <a:pPr>
              <a:spcAft>
                <a:spcPts val="1000"/>
              </a:spcAft>
              <a:defRPr sz="1700">
                <a:solidFill>
                  <a:srgbClr val="222A33"/>
                </a:solidFill>
                <a:latin typeface="Calibri"/>
              </a:defRPr>
            </a:pPr>
            <a:r>
              <a:t>•  Every agent response carries its evidence chain back to the UI untouched — the same object NSCRE produced, byte-for-byte.</a:t>
            </a:r>
          </a:p>
          <a:p>
            <a:pPr>
              <a:spcAft>
                <a:spcPts val="1000"/>
              </a:spcAft>
              <a:defRPr sz="1700">
                <a:solidFill>
                  <a:srgbClr val="222A33"/>
                </a:solidFill>
                <a:latin typeface="Calibri"/>
              </a:defRPr>
            </a:pPr>
            <a:r>
              <a:t>•  Verified in our test suite as object equality, not a fuzzy or LLM-judged check.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778"/>
                </a:solidFill>
              </a:defRPr>
            </a:pPr>
            <a:r>
              <a:t>Veritas-Medica —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778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E86DE"/>
                </a:solidFill>
                <a:latin typeface="Calibri"/>
              </a:defRPr>
            </a:pPr>
            <a:r>
              <a:t>NPHIES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B1F3A"/>
                </a:solidFill>
                <a:latin typeface="Calibri"/>
              </a:defRPr>
            </a:pPr>
            <a:r>
              <a:t>Point-of-Care NPHIES Automation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A33"/>
                </a:solidFill>
                <a:latin typeface="Calibri"/>
              </a:defRPr>
            </a:pPr>
            <a:r>
              <a:t>•  Real-time ICD-10-AM ↔ SBS/SFDA code matching against the documented diagnosis, at the moment an order is entered.</a:t>
            </a:r>
          </a:p>
          <a:p>
            <a:pPr>
              <a:spcAft>
                <a:spcPts val="1000"/>
              </a:spcAft>
              <a:defRPr sz="1900">
                <a:solidFill>
                  <a:srgbClr val="222A33"/>
                </a:solidFill>
                <a:latin typeface="Calibri"/>
              </a:defRPr>
            </a:pPr>
            <a:r>
              <a:t>•  Every order line carries a status badge: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80360"/>
            <a:ext cx="3291840" cy="548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🟢  GREEN — matched, ready to submit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611880"/>
            <a:ext cx="3291840" cy="548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🟡  YELLOW — pre-auth, 1-click submit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3291840" cy="5486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🔴  RED — mismatch, codes suggested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120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A33"/>
                </a:solidFill>
                <a:latin typeface="Calibri"/>
              </a:defRPr>
            </a:pPr>
            <a:r>
              <a:t>•  The badge color is a billing/paperwork state, never a clinical severity signal — a deliberate line that keeps this feature inside administrative automation, not diagnostic judgment.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778"/>
                </a:solidFill>
              </a:defRPr>
            </a:pPr>
            <a:r>
              <a:t>Veritas-Medica —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778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E86DE"/>
                </a:solidFill>
                <a:latin typeface="Calibri"/>
              </a:defRPr>
            </a:pPr>
            <a:r>
              <a:t>THE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B1F3A"/>
                </a:solidFill>
                <a:latin typeface="Calibri"/>
              </a:defRPr>
            </a:pPr>
            <a:r>
              <a:t>The VeritasShell Experience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3520440" cy="3291840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LEFT</a:t>
            </a:r>
          </a:p>
          <a:p>
            <a:pPr>
              <a:spcBef>
                <a:spcPts val="600"/>
              </a:spcBef>
              <a:spcAft>
                <a:spcPts val="1000"/>
              </a:spcAft>
              <a:defRPr sz="1900" b="1">
                <a:solidFill>
                  <a:srgbClr val="FFFFFF"/>
                </a:solidFill>
              </a:defRPr>
            </a:pPr>
            <a:r>
              <a:t>Ambient Scribe</a:t>
            </a:r>
          </a:p>
          <a:p>
            <a:pPr>
              <a:defRPr sz="1400">
                <a:solidFill>
                  <a:srgbClr val="E7ECF1"/>
                </a:solidFill>
              </a:defRPr>
            </a:pPr>
            <a:r>
              <a:t>Live transcript and an auto-drafting SOAP note as the encounter happens, editable at every field.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554480"/>
            <a:ext cx="3520440" cy="3291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CENTER</a:t>
            </a:r>
          </a:p>
          <a:p>
            <a:pPr>
              <a:spcBef>
                <a:spcPts val="600"/>
              </a:spcBef>
              <a:spcAft>
                <a:spcPts val="1000"/>
              </a:spcAft>
              <a:defRPr sz="1900" b="1">
                <a:solidFill>
                  <a:srgbClr val="FFFFFF"/>
                </a:solidFill>
              </a:defRPr>
            </a:pPr>
            <a:r>
              <a:t>Timeline &amp; Order Entry</a:t>
            </a:r>
          </a:p>
          <a:p>
            <a:pPr>
              <a:defRPr sz="1400">
                <a:solidFill>
                  <a:srgbClr val="E7ECF1"/>
                </a:solidFill>
              </a:defRPr>
            </a:pPr>
            <a:r>
              <a:t>Chronological patient history plus order entry with inline NPHIES status badges.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554480"/>
            <a:ext cx="3520440" cy="3291840"/>
          </a:xfrm>
          <a:prstGeom prst="rect">
            <a:avLst/>
          </a:prstGeom>
          <a:solidFill>
            <a:srgbClr val="5A6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RIGHT</a:t>
            </a:r>
          </a:p>
          <a:p>
            <a:pPr>
              <a:spcBef>
                <a:spcPts val="600"/>
              </a:spcBef>
              <a:spcAft>
                <a:spcPts val="1000"/>
              </a:spcAft>
              <a:defRPr sz="1900" b="1">
                <a:solidFill>
                  <a:srgbClr val="FFFFFF"/>
                </a:solidFill>
              </a:defRPr>
            </a:pPr>
            <a:r>
              <a:t>AI Team Drawer</a:t>
            </a:r>
          </a:p>
          <a:p>
            <a:pPr>
              <a:defRPr sz="1400">
                <a:solidFill>
                  <a:srgbClr val="E7ECF1"/>
                </a:solidFill>
              </a:defRPr>
            </a:pPr>
            <a:r>
              <a:t>Collapsible panel: Scribe, Consultant, Pharmacist, NPHIES/Billing agents with a shared activity stream.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A33"/>
                </a:solidFill>
                <a:latin typeface="Calibri"/>
              </a:defRPr>
            </a:pPr>
            <a:r>
              <a:t>•  No app-switching, no separate billing portal, no end-of-day note backlog — documentation, order, and claim-readiness check happen in the same pane, in the same minute.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778"/>
                </a:solidFill>
              </a:defRPr>
            </a:pPr>
            <a:r>
              <a:t>Veritas-Medica —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778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E86DE"/>
                </a:solidFill>
                <a:latin typeface="Calibri"/>
              </a:defRPr>
            </a:pPr>
            <a:r>
              <a:t>EXPLAINABILITY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B1F3A"/>
                </a:solidFill>
                <a:latin typeface="Calibri"/>
              </a:defRPr>
            </a:pPr>
            <a:r>
              <a:t>Explainable AI: Evidence Chains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A33"/>
                </a:solidFill>
                <a:latin typeface="Calibri"/>
              </a:defRPr>
            </a:pPr>
            <a:r>
              <a:t>•  Every clinical claim is one click from its source — a "Show Reasoning" / "View Evidence Chain" control sits on every agent recommendation and every NPHIES badge.</a:t>
            </a:r>
          </a:p>
          <a:p>
            <a:pPr>
              <a:spcAft>
                <a:spcPts val="1000"/>
              </a:spcAft>
              <a:defRPr sz="1900">
                <a:solidFill>
                  <a:srgbClr val="222A33"/>
                </a:solidFill>
                <a:latin typeface="Calibri"/>
              </a:defRPr>
            </a:pPr>
            <a:r>
              <a:t>•  Clicking it reveals the exact graph traversal that produced the claim — not a paraphrase, the literal path.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108960"/>
            <a:ext cx="10515600" cy="13716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1600">
                <a:solidFill>
                  <a:srgbClr val="7ED321"/>
                </a:solidFill>
                <a:latin typeface="Consolas"/>
              </a:defRPr>
            </a:pPr>
            <a:r>
              <a:t>Patient(id=...) → LabResult(eGFR=28) → Medication(name=Metformin)</a:t>
            </a:r>
          </a:p>
          <a:p>
            <a:pPr>
              <a:defRPr sz="1600">
                <a:solidFill>
                  <a:srgbClr val="7ED321"/>
                </a:solidFill>
                <a:latin typeface="Consolas"/>
              </a:defRPr>
            </a:pPr>
            <a:r>
              <a:t>               → Rule(flag=CRITICAL_OVERRIDE)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A33"/>
                </a:solidFill>
                <a:latin typeface="Calibri"/>
              </a:defRPr>
            </a:pPr>
            <a:r>
              <a:t>•  Every node and edge in that chain is a real object the graph query returned — nothing rendered, nothing summarized by a model.</a:t>
            </a:r>
          </a:p>
          <a:p>
            <a:pPr>
              <a:spcAft>
                <a:spcPts val="1000"/>
              </a:spcAft>
              <a:defRPr sz="1800">
                <a:solidFill>
                  <a:srgbClr val="222A33"/>
                </a:solidFill>
                <a:latin typeface="Calibri"/>
              </a:defRPr>
            </a:pPr>
            <a:r>
              <a:t>•  This turns “trust the AI” into “verify the query” — a fundamentally different, and much easier, ask.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778"/>
                </a:solidFill>
              </a:defRPr>
            </a:pPr>
            <a:r>
              <a:t>Veritas-Medica —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778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E86DE"/>
                </a:solidFill>
                <a:latin typeface="Calibri"/>
              </a:defRPr>
            </a:pPr>
            <a:r>
              <a:t>ENTERPRISE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B1F3A"/>
                </a:solidFill>
                <a:latin typeface="Calibri"/>
              </a:defRPr>
            </a:pPr>
            <a:r>
              <a:t>Enterprise Integration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A33"/>
                </a:solidFill>
                <a:latin typeface="Calibri"/>
              </a:defRPr>
            </a:pPr>
            <a:r>
              <a:t>•  Deployment — Saudi in-Kingdom cloud or full on-premises, clinician's choice.</a:t>
            </a:r>
          </a:p>
          <a:p>
            <a:pPr>
              <a:spcAft>
                <a:spcPts val="1000"/>
              </a:spcAft>
              <a:defRPr sz="1900">
                <a:solidFill>
                  <a:srgbClr val="222A33"/>
                </a:solidFill>
                <a:latin typeface="Calibri"/>
              </a:defRPr>
            </a:pPr>
            <a:r>
              <a:t>•  Saudi PDPL compliance — patient data, audit logs, and derived graphs stay in-Kingdom by default; audit logging is append-only with hash-chain integrity, independently verifiable.</a:t>
            </a:r>
          </a:p>
          <a:p>
            <a:pPr>
              <a:spcAft>
                <a:spcPts val="1000"/>
              </a:spcAft>
              <a:defRPr sz="1900">
                <a:solidFill>
                  <a:srgbClr val="222A33"/>
                </a:solidFill>
                <a:latin typeface="Calibri"/>
              </a:defRPr>
            </a:pPr>
            <a:r>
              <a:t>•  FHIR R4 interoperability — standards-based integration with existing HIS/EHR systems via FHIR client + HL7 v2 adapter; an addition to the hospital's stack, not a rip-and-replace migration.</a:t>
            </a:r>
          </a:p>
          <a:p>
            <a:pPr>
              <a:spcAft>
                <a:spcPts val="1000"/>
              </a:spcAft>
              <a:defRPr sz="1900">
                <a:solidFill>
                  <a:srgbClr val="222A33"/>
                </a:solidFill>
                <a:latin typeface="Calibri"/>
              </a:defRPr>
            </a:pPr>
            <a:r>
              <a:t>•  NPHIES-native — built against the live NPHIES FHIR sandbox from day one, not retrofitted.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778"/>
                </a:solidFill>
              </a:defRPr>
            </a:pPr>
            <a:r>
              <a:t>Veritas-Medica —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778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E86DE"/>
                </a:solidFill>
                <a:latin typeface="Calibri"/>
              </a:defRPr>
            </a:pPr>
            <a:r>
              <a:t>THE BUSINESS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B1F3A"/>
                </a:solidFill>
                <a:latin typeface="Calibri"/>
              </a:defRPr>
            </a:pPr>
            <a:r>
              <a:t>Measurable Hospital ROI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03120"/>
                <a:gridCol w="5486400"/>
              </a:tblGrid>
              <a:tr h="59436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Mechanism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Time per encounter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-65% (target)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Ambient scribe removes manual note-typing; order entry and claim-check happen inline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NPHIES claim rejections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-85% (target)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Point-of-care code/necessity validation before submission, not after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Hallucination liability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Zero (structural)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Facts are graph-sourced by architecture, not by model behavior that could drift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A33"/>
                </a:solidFill>
                <a:latin typeface="Calibri"/>
              </a:defRPr>
            </a:pPr>
            <a:r>
              <a:t>•  “Zero” is a structural claim, not a statistic — DeepSeek is never in the path between a patient fact and the graph that owns it, by design, enforced by our own test suite.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778"/>
                </a:solidFill>
              </a:defRPr>
            </a:pPr>
            <a:r>
              <a:t>Veritas-Medica —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778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E86DE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B1F3A"/>
                </a:solidFill>
                <a:latin typeface="Calibri"/>
              </a:defRPr>
            </a:pPr>
            <a:r>
              <a:t>Pilot Roadmap: 30-Day Proof of Concept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144000"/>
              </a:tblGrid>
              <a:tr h="658368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Week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Milestone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Week 1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Scoping + integration: connect to the hospital's FHIR/HIS endpoint (read-only), select 1–2 pilot departments, load department-specific NPHIES necessity rules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Week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Shadow mode: runs alongside existing workflow with synthetic/de-identified encounters; clinical + IT teams validate evidence chains against known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Week 3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Live pilot: opt-in clinicians use VeritasShell for real encounters; NPHIES badge accuracy and time-per-encounter tracked from day one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Week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Measurement + go/no-go: compare pilot metrics against the department's own pre-pilot baseline; present findings and a scale-up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0292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222A33"/>
                </a:solidFill>
                <a:latin typeface="Calibri"/>
              </a:defRPr>
            </a:pPr>
            <a:r>
              <a:t>•  What the hospital provides: a FHIR-reachable read endpoint, two clinician champions, IT sign-off.</a:t>
            </a:r>
          </a:p>
          <a:p>
            <a:pPr>
              <a:spcAft>
                <a:spcPts val="1000"/>
              </a:spcAft>
              <a:defRPr sz="1600">
                <a:solidFill>
                  <a:srgbClr val="222A33"/>
                </a:solidFill>
                <a:latin typeface="Calibri"/>
              </a:defRPr>
            </a:pPr>
            <a:r>
              <a:t>•  What we bring: the platform, department-specific NPHIES rule loading, a dedicated implementation engineer for all four weeks.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778"/>
                </a:solidFill>
              </a:defRPr>
            </a:pPr>
            <a:r>
              <a:t>Veritas-Medica —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778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