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up front, plainly — it's more credible than letting the mockups pass as captures, and it matches the product's own zero-hallucination ethos: don't overclaim what's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Narrate a short exchange out loud in this cadence; the real transcript pane fills in as you speak. Line to land: the clinician still owns every word — the scribe just removes the 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a yellow badge, then Submit Pre-Auth, and point at the activity stream updating. This is the moment that normally happens two weeks later as a rejected claim — here it happens before the order is 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entire result came from one deterministic query against this patient's actual lab history — no language model touched any of these facts. DeepSeek's only job is turning this JSON into a sentence, never deciding what it says.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evidence chain shown in Scene 3's terminal, rendered for a clinician instead of a developer. You are not being asked to trust the AI — you're being shown the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Run on a card, show the activity stream update. Collapse/expand the drawer to show it keeps state. Closing line: four specialists, one shared evidence stream, one shared graph of facts underneath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pointing back to the pilot roadmap slide in the executive deck — the natural next step after this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Live 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0" i="0">
                <a:solidFill>
                  <a:srgbClr val="AEC9E8"/>
                </a:solidFill>
                <a:latin typeface="Calibri"/>
              </a:defRPr>
            </a:pPr>
            <a:r>
              <a:t>Veritas-Medica — 5 Scenes, ~10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7863840" cy="123444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500">
                <a:solidFill>
                  <a:srgbClr val="FCD34D"/>
                </a:solidFill>
              </a:defRPr>
            </a:pPr>
            <a:r>
              <a:t>This product is under active development.</a:t>
            </a:r>
          </a:p>
          <a:p>
            <a:pPr>
              <a:spcBef>
                <a:spcPts val="600"/>
              </a:spcBef>
              <a:defRPr sz="1300">
                <a:solidFill>
                  <a:srgbClr val="E7ECF1"/>
                </a:solidFill>
              </a:defRPr>
            </a:pPr>
            <a:r>
              <a:t>The screens on the following slides are illustrative mockups built directly from the real UI components and application code — not live screen captures — to demonstrate what the platform does today.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E2208"/>
                </a:solidFill>
              </a:defRPr>
            </a:pPr>
            <a:r>
              <a:t>ILLUSTRATIVE MOCKUP — built from the real UI components and code, not a live screen capture (product is under active development)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2E86DE"/>
                </a:solidFill>
                <a:latin typeface="Calibri"/>
              </a:defRPr>
            </a:pPr>
            <a:r>
              <a:t>SCENE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1F3A"/>
                </a:solidFill>
                <a:latin typeface="Calibri"/>
              </a:defRPr>
            </a:pPr>
            <a:r>
              <a:t>Ambient Scribe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5486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0" i="0">
                <a:solidFill>
                  <a:srgbClr val="5A6778"/>
                </a:solidFill>
                <a:latin typeface="Calibri"/>
              </a:defRPr>
            </a:pPr>
            <a:r>
              <a:t>Scene 1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201400" cy="402336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920240" cy="40233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453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F1F5F9"/>
                </a:solidFill>
                <a:latin typeface="Calibri"/>
              </a:defRPr>
            </a:pPr>
            <a:r>
              <a:t>Cortex.ai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01168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alibri"/>
              </a:defRPr>
            </a:pPr>
            <a:r>
              <a:t>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22576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alibri"/>
              </a:defRPr>
            </a:pPr>
            <a:r>
              <a:t>Quick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334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alibri"/>
              </a:defRPr>
            </a:pPr>
            <a:r>
              <a:t>AI Receptionist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81527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 i="0">
                <a:solidFill>
                  <a:srgbClr val="475569"/>
                </a:solidFill>
                <a:latin typeface="Calibri"/>
              </a:defRPr>
            </a:pPr>
            <a:r>
              <a:t>AHMAD FAKENAME-AL-BISHI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92423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alibri"/>
              </a:defRPr>
            </a:pPr>
            <a:r>
              <a:t>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21607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alibri"/>
              </a:defRPr>
            </a:pPr>
            <a:r>
              <a:t>Patient 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4005072"/>
            <a:ext cx="1773936" cy="29260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50791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 i="0">
                <a:solidFill>
                  <a:srgbClr val="F1F5F9"/>
                </a:solidFill>
                <a:latin typeface="Calibri"/>
              </a:defRPr>
            </a:pPr>
            <a:r>
              <a:t>Encounter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1417320"/>
            <a:ext cx="3200400" cy="40233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15544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94A3B8"/>
                </a:solidFill>
                <a:latin typeface="Calibri"/>
              </a:defRPr>
            </a:pPr>
            <a:r>
              <a:t>AMBIENT SCRIBE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1920240"/>
            <a:ext cx="1371600" cy="384048"/>
          </a:xfrm>
          <a:prstGeom prst="round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⏹  Stop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9933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FB7185"/>
                </a:solidFill>
                <a:latin typeface="Calibri"/>
              </a:defRPr>
            </a:pPr>
            <a:r>
              <a:t>● REC  01:24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46888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 i="0">
                <a:solidFill>
                  <a:srgbClr val="93C5FD"/>
                </a:solidFill>
                <a:latin typeface="Calibri"/>
              </a:defRPr>
            </a:pPr>
            <a:r>
              <a:t>Clinician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64261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alibri"/>
              </a:defRPr>
            </a:pPr>
            <a:r>
              <a:t>Good morning — what brings you in today?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99923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 i="0">
                <a:solidFill>
                  <a:srgbClr val="93C5FD"/>
                </a:solidFill>
                <a:latin typeface="Calibri"/>
              </a:defRPr>
            </a:pPr>
            <a:r>
              <a:t>Patient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7296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CBD5E1"/>
                </a:solidFill>
                <a:latin typeface="Calibri"/>
              </a:defRPr>
            </a:pPr>
            <a:r>
              <a:t>I've had chest tightness climbing stairs, for two weeks.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35295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 i="0">
                <a:solidFill>
                  <a:srgbClr val="93C5FD"/>
                </a:solidFill>
                <a:latin typeface="Calibri"/>
              </a:defRPr>
            </a:pPr>
            <a:r>
              <a:t>Clinician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37033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alibri"/>
              </a:defRPr>
            </a:pPr>
            <a:r>
              <a:t>Any pain at rest?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059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 i="0">
                <a:solidFill>
                  <a:srgbClr val="93C5FD"/>
                </a:solidFill>
                <a:latin typeface="Calibri"/>
              </a:defRPr>
            </a:pPr>
            <a:r>
              <a:t>Patient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23367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CBD5E1"/>
                </a:solidFill>
                <a:latin typeface="Calibri"/>
              </a:defRPr>
            </a:pPr>
            <a:r>
              <a:t>No, only on exertion.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5902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1" i="0">
                <a:solidFill>
                  <a:srgbClr val="93C5FD"/>
                </a:solidFill>
                <a:latin typeface="Calibri"/>
              </a:defRPr>
            </a:pPr>
            <a:r>
              <a:t>Clinician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47640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alibri"/>
              </a:defRPr>
            </a:pPr>
            <a:r>
              <a:t>BP 148/92, HR 78, SpO2 98%.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1663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 i="0">
                <a:solidFill>
                  <a:srgbClr val="94A3B8"/>
                </a:solidFill>
                <a:latin typeface="Calibri"/>
              </a:defRPr>
            </a:pPr>
            <a:r>
              <a:t>SOAP NOTE (live)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5486400"/>
            <a:ext cx="2834640" cy="914400"/>
          </a:xfrm>
          <a:prstGeom prst="rect">
            <a:avLst/>
          </a:prstGeom>
          <a:solidFill>
            <a:srgbClr val="020617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>
                <a:solidFill>
                  <a:srgbClr val="CBD5E1"/>
                </a:solidFill>
              </a:defRPr>
            </a:pPr>
            <a:r>
              <a:t>S: Chest tightness on exertion, 2 weeks. No pain at rest.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O: BP 148/92, HR 78, SpO2 98%.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1417320"/>
            <a:ext cx="5989320" cy="4023360"/>
          </a:xfrm>
          <a:prstGeom prst="rect">
            <a:avLst/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15819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 i="0">
                <a:solidFill>
                  <a:srgbClr val="F1F5F9"/>
                </a:solidFill>
                <a:latin typeface="Calibri"/>
              </a:defRPr>
            </a:pPr>
            <a:r>
              <a:t>🤖  AI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98424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Scribe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2240280"/>
            <a:ext cx="9144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198424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alibri"/>
              </a:defRPr>
            </a:pPr>
            <a:r>
              <a:t>Consult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198424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alibri"/>
              </a:defRPr>
            </a:pPr>
            <a:r>
              <a:t>Pharm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198424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alibri"/>
              </a:defRPr>
            </a:pPr>
            <a:r>
              <a:t>NPHIES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198424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alibri"/>
              </a:defRPr>
            </a:pPr>
            <a:r>
              <a:t>Recep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4688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 i="0">
                <a:solidFill>
                  <a:srgbClr val="64748B"/>
                </a:solidFill>
                <a:latin typeface="Calibri"/>
              </a:defRPr>
            </a:pPr>
            <a:r>
              <a:t>AGENT ACTIVITY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2743200"/>
            <a:ext cx="5669280" cy="502920"/>
          </a:xfrm>
          <a:prstGeom prst="rect">
            <a:avLst/>
          </a:prstGeom>
          <a:solidFill>
            <a:srgbClr val="020617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defRPr sz="900" b="1">
                <a:solidFill>
                  <a:srgbClr val="93C5FD"/>
                </a:solidFill>
              </a:defRPr>
            </a:pPr>
            <a:r>
              <a:t>Scribe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Draft SOAP note updated from the live transcript.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623560"/>
            <a:ext cx="11201400" cy="1051560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300"/>
              </a:spcAft>
              <a:defRPr sz="1300" b="1">
                <a:solidFill>
                  <a:srgbClr val="222A33"/>
                </a:solidFill>
              </a:defRPr>
            </a:pPr>
            <a:r>
              <a:t>What this demonstrates: a live doctor-patient dialogue is transcribed in real time and structured into SOAP sections as it happens — the clinician edits every field freely.</a:t>
            </a:r>
          </a:p>
          <a:p>
            <a:pPr>
              <a:spcAft>
                <a:spcPts val="300"/>
              </a:spcAft>
              <a:defRPr sz="1100" b="0">
                <a:solidFill>
                  <a:srgbClr val="5A6778"/>
                </a:solidFill>
              </a:defRPr>
            </a:pPr>
            <a:r>
              <a:t>Built and working today (SullyShell / AmbientScribePane); the 4-agent activity stream on the right updates from the same transcript.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 i="0">
                <a:solidFill>
                  <a:srgbClr val="5A6778"/>
                </a:solidFill>
                <a:latin typeface="Calibri"/>
              </a:defRPr>
            </a:pPr>
            <a:r>
              <a:t>Veritas-Medica —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A677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E2208"/>
                </a:solidFill>
              </a:defRPr>
            </a:pPr>
            <a:r>
              <a:t>ILLUSTRATIVE MOCKUP — built from the real UI components and code, not a live screen capture (product is under active development)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2E86DE"/>
                </a:solidFill>
                <a:latin typeface="Calibri"/>
              </a:defRPr>
            </a:pPr>
            <a:r>
              <a:t>SCENE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1F3A"/>
                </a:solidFill>
                <a:latin typeface="Calibri"/>
              </a:defRPr>
            </a:pPr>
            <a:r>
              <a:t>Order Entry &amp; NPHIES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5486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0" i="0">
                <a:solidFill>
                  <a:srgbClr val="5A6778"/>
                </a:solidFill>
                <a:latin typeface="Calibri"/>
              </a:defRPr>
            </a:pPr>
            <a:r>
              <a:t>Scene 2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201400" cy="402336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 i="0">
                <a:solidFill>
                  <a:srgbClr val="F1F5F9"/>
                </a:solidFill>
                <a:latin typeface="Calibri"/>
              </a:defRPr>
            </a:pPr>
            <a:r>
              <a:t>Clinical order entry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680960" cy="56692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21992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 i="0">
                <a:solidFill>
                  <a:srgbClr val="F1F5F9"/>
                </a:solidFill>
                <a:latin typeface="Calibri"/>
              </a:defRPr>
            </a:pPr>
            <a:r>
              <a:t>Electrocardiogram (ECG), 12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  <a:latin typeface="Consolas"/>
              </a:defRPr>
            </a:pPr>
            <a:r>
              <a:t>SBS 11700-00-10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40280"/>
            <a:ext cx="2103120" cy="384048"/>
          </a:xfrm>
          <a:prstGeom prst="roundRect">
            <a:avLst/>
          </a:prstGeom>
          <a:solidFill>
            <a:srgbClr val="0A2A22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6EE7B7"/>
                </a:solidFill>
              </a:defRPr>
            </a:pPr>
            <a:r>
              <a:t>🟢  Approved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25496"/>
            <a:ext cx="7680960" cy="56692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9864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 i="0">
                <a:solidFill>
                  <a:srgbClr val="F1F5F9"/>
                </a:solidFill>
                <a:latin typeface="Calibri"/>
              </a:defRPr>
            </a:pPr>
            <a:r>
              <a:t>Lipid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45536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  <a:latin typeface="Consolas"/>
              </a:defRPr>
            </a:pPr>
            <a:r>
              <a:t>SBS 66536-00-10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16936"/>
            <a:ext cx="2103120" cy="384048"/>
          </a:xfrm>
          <a:prstGeom prst="roundRect">
            <a:avLst/>
          </a:prstGeom>
          <a:solidFill>
            <a:srgbClr val="0A2A22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6EE7B7"/>
                </a:solidFill>
              </a:defRPr>
            </a:pPr>
            <a:r>
              <a:t>🟢  Approved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02152"/>
            <a:ext cx="7680960" cy="56692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7530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 i="0">
                <a:solidFill>
                  <a:srgbClr val="F1F5F9"/>
                </a:solidFill>
                <a:latin typeface="Calibri"/>
              </a:defRPr>
            </a:pPr>
            <a:r>
              <a:t>Echocardiogram, transthoracic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22191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  <a:latin typeface="Consolas"/>
              </a:defRPr>
            </a:pPr>
            <a:r>
              <a:t>SBS 11712-00-10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93592"/>
            <a:ext cx="2103120" cy="384048"/>
          </a:xfrm>
          <a:prstGeom prst="roundRect">
            <a:avLst/>
          </a:prstGeom>
          <a:solidFill>
            <a:srgbClr val="2E2208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CD34D"/>
                </a:solidFill>
              </a:defRPr>
            </a:pPr>
            <a:r>
              <a:t>🟡  Pre-auth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178808"/>
            <a:ext cx="7680960" cy="56692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5196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 i="0">
                <a:solidFill>
                  <a:srgbClr val="F1F5F9"/>
                </a:solidFill>
                <a:latin typeface="Calibri"/>
              </a:defRPr>
            </a:pPr>
            <a:r>
              <a:t>Lumbar MRI, without contrast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498848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  <a:latin typeface="Consolas"/>
              </a:defRPr>
            </a:pPr>
            <a:r>
              <a:t>SBS 58721-00-10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70248"/>
            <a:ext cx="2103120" cy="384048"/>
          </a:xfrm>
          <a:prstGeom prst="roundRect">
            <a:avLst/>
          </a:prstGeom>
          <a:solidFill>
            <a:srgbClr val="2E2208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CD34D"/>
                </a:solidFill>
              </a:defRPr>
            </a:pPr>
            <a:r>
              <a:t>🟡  Pre-auth required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855464"/>
            <a:ext cx="7680960" cy="56692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92861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 i="0">
                <a:solidFill>
                  <a:srgbClr val="F1F5F9"/>
                </a:solidFill>
                <a:latin typeface="Calibri"/>
              </a:defRPr>
            </a:pPr>
            <a:r>
              <a:t>Coronary angiography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175504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  <a:latin typeface="Consolas"/>
              </a:defRPr>
            </a:pPr>
            <a:r>
              <a:t>SBS 38306-00-99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946904"/>
            <a:ext cx="2103120" cy="384048"/>
          </a:xfrm>
          <a:prstGeom prst="roundRect">
            <a:avLst/>
          </a:prstGeom>
          <a:solidFill>
            <a:srgbClr val="2E0E14"/>
          </a:solidFill>
          <a:ln w="9525">
            <a:solidFill>
              <a:srgbClr val="FDA4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DA4AF"/>
                </a:solidFill>
              </a:defRPr>
            </a:pPr>
            <a:r>
              <a:t>🔴  Code mismatch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577840"/>
            <a:ext cx="512064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b="1" sz="1200">
                <a:solidFill>
                  <a:srgbClr val="FDA4AF"/>
                </a:solidFill>
              </a:defRPr>
            </a:pPr>
            <a:r>
              <a:t>Code mismatch — high rejection risk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No recorded necessity rule links this procedure to the documented diagnoses.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Suggested codes: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6583680"/>
            <a:ext cx="15544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50">
                <a:solidFill>
                  <a:srgbClr val="F1F5F9"/>
                </a:solidFill>
                <a:latin typeface="Consolas"/>
              </a:defRPr>
            </a:pPr>
            <a:r>
              <a:t>38300-00-10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6583680"/>
            <a:ext cx="15544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50">
                <a:solidFill>
                  <a:srgbClr val="F1F5F9"/>
                </a:solidFill>
                <a:latin typeface="Consolas"/>
              </a:defRPr>
            </a:pPr>
            <a:r>
              <a:t>38306-00-10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623560"/>
            <a:ext cx="11201400" cy="1051560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300"/>
              </a:spcAft>
              <a:defRPr sz="1300" b="1">
                <a:solidFill>
                  <a:srgbClr val="222A33"/>
                </a:solidFill>
              </a:defRPr>
            </a:pPr>
            <a:r>
              <a:t>What this demonstrates: every order line is checked against documented diagnoses in real time — 🟢 approved, 🟡 needs one-click pre-authorization, 🔴 flags a code mismatch with suggested fixes before submission.</a:t>
            </a:r>
          </a:p>
          <a:p>
            <a:pPr>
              <a:spcAft>
                <a:spcPts val="300"/>
              </a:spcAft>
              <a:defRPr sz="1100" b="0">
                <a:solidFill>
                  <a:srgbClr val="5A6778"/>
                </a:solidFill>
              </a:defRPr>
            </a:pPr>
            <a:r>
              <a:t>Built and working today (TimelinePane + NphiesBadge); badge color is a billing state, never a clinical severity signal.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 i="0">
                <a:solidFill>
                  <a:srgbClr val="5A6778"/>
                </a:solidFill>
                <a:latin typeface="Calibri"/>
              </a:defRPr>
            </a:pPr>
            <a:r>
              <a:t>Veritas-Medica —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A677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E2208"/>
                </a:solidFill>
              </a:defRPr>
            </a:pPr>
            <a:r>
              <a:t>ILLUSTRATIVE MOCKUP — built from the real UI components and code, not a live screen capture (product is under active development)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2E86DE"/>
                </a:solidFill>
                <a:latin typeface="Calibri"/>
              </a:defRPr>
            </a:pPr>
            <a:r>
              <a:t>SCENE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1F3A"/>
                </a:solidFill>
                <a:latin typeface="Calibri"/>
              </a:defRPr>
            </a:pPr>
            <a:r>
              <a:t>NSCRE Safety Check — 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5486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0" i="0">
                <a:solidFill>
                  <a:srgbClr val="5A6778"/>
                </a:solidFill>
                <a:latin typeface="Calibri"/>
              </a:defRPr>
            </a:pPr>
            <a:r>
              <a:t>Scene 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 i="0">
                <a:solidFill>
                  <a:srgbClr val="222A33"/>
                </a:solidFill>
                <a:latin typeface="Calibri"/>
              </a:defRPr>
            </a:pPr>
            <a:r>
              <a:t>Proposing Metformin for a patient with reduced kidney function (eGFR 22.05, real seeded data) — watch the reasoning engine respond before any prose is generated: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11201400" cy="3429000"/>
          </a:xfrm>
          <a:prstGeom prst="rect">
            <a:avLst/>
          </a:prstGeom>
          <a:solidFill>
            <a:srgbClr val="121212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$ curl -X POST http://localhost:5004/api/v1/nscre/check-order \</a:t>
            </a:r>
          </a:p>
          <a:p>
            <a:pPr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    -d '{"patient_id":"ca76ab0b-...", "proposed_drug_key":"metformin"}'</a:t>
            </a:r>
          </a:p>
          <a:p>
            <a:pPr>
              <a:spcAft>
                <a:spcPts val="200"/>
              </a:spcAft>
              <a:defRPr sz="600" b="0">
                <a:solidFill>
                  <a:srgbClr val="7ED32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7ED321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200" b="1">
                <a:solidFill>
                  <a:srgbClr val="FDA4AF"/>
                </a:solidFill>
                <a:latin typeface="Consolas"/>
              </a:defRPr>
            </a:pPr>
            <a:r>
              <a:t>  "flag": "CRITICAL_OVERRIDE",</a:t>
            </a:r>
          </a:p>
          <a:p>
            <a:pPr>
              <a:spcAft>
                <a:spcPts val="200"/>
              </a:spcAft>
              <a:defRPr sz="1200" b="0">
                <a:solidFill>
                  <a:srgbClr val="7ED321"/>
                </a:solidFill>
                <a:latin typeface="Consolas"/>
              </a:defRPr>
            </a:pPr>
            <a:r>
              <a:t>  "egfr_value": 22.05,  "threshold": 30.0,</a:t>
            </a:r>
          </a:p>
          <a:p>
            <a:pPr>
              <a:spcAft>
                <a:spcPts val="200"/>
              </a:spcAft>
              <a:defRPr sz="1200" b="0">
                <a:solidFill>
                  <a:srgbClr val="7ED321"/>
                </a:solidFill>
                <a:latin typeface="Consolas"/>
              </a:defRPr>
            </a:pPr>
            <a:r>
              <a:t>  "rationale": "Metformin is contraindicated below eGFR 30 due to</a:t>
            </a:r>
          </a:p>
          <a:p>
            <a:pPr>
              <a:spcAft>
                <a:spcPts val="200"/>
              </a:spcAft>
              <a:defRPr sz="1200" b="0">
                <a:solidFill>
                  <a:srgbClr val="7ED321"/>
                </a:solidFill>
                <a:latin typeface="Consolas"/>
              </a:defRPr>
            </a:pPr>
            <a:r>
              <a:t>               accumulation risk and lactic acidosis.",</a:t>
            </a:r>
          </a:p>
          <a:p>
            <a:pPr>
              <a:spcAft>
                <a:spcPts val="200"/>
              </a:spcAft>
              <a:defRPr sz="1200" b="0">
                <a:solidFill>
                  <a:srgbClr val="7ED321"/>
                </a:solidFill>
                <a:latin typeface="Consolas"/>
              </a:defRPr>
            </a:pPr>
            <a:r>
              <a:t>  "evidence_chain": {</a:t>
            </a:r>
          </a:p>
          <a:p>
            <a:pPr>
              <a:spcAft>
                <a:spcPts val="200"/>
              </a:spcAft>
              <a:defRPr sz="1200" b="0">
                <a:solidFill>
                  <a:srgbClr val="93C5FD"/>
                </a:solidFill>
                <a:latin typeface="Consolas"/>
              </a:defRPr>
            </a:pPr>
            <a:r>
              <a:t>    "rendered": "Patient(id=ca76ab0b-...) -&gt; LabResult(test=eGFR,</a:t>
            </a:r>
          </a:p>
          <a:p>
            <a:pPr>
              <a:spcAft>
                <a:spcPts val="200"/>
              </a:spcAft>
              <a:defRPr sz="1200" b="0">
                <a:solidFill>
                  <a:srgbClr val="93C5FD"/>
                </a:solidFill>
                <a:latin typeface="Consolas"/>
              </a:defRPr>
            </a:pPr>
            <a:r>
              <a:t>                 value=22.05) -&gt; Medication(name=Metformin) -&gt;</a:t>
            </a:r>
          </a:p>
          <a:p>
            <a:pPr>
              <a:spcAft>
                <a:spcPts val="200"/>
              </a:spcAft>
              <a:defRPr sz="1200" b="0">
                <a:solidFill>
                  <a:srgbClr val="93C5FD"/>
                </a:solidFill>
                <a:latin typeface="Consolas"/>
              </a:defRPr>
            </a:pPr>
            <a:r>
              <a:t>                 Rule(flag=CRITICAL_OVERRIDE, threshold=eGFR &lt; 30.0)"</a:t>
            </a:r>
          </a:p>
          <a:p>
            <a:pPr>
              <a:spcAft>
                <a:spcPts val="200"/>
              </a:spcAft>
              <a:defRPr sz="1200" b="0">
                <a:solidFill>
                  <a:srgbClr val="7ED32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200" b="0">
                <a:solidFill>
                  <a:srgbClr val="7ED32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0" y="2103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 i="0">
                <a:solidFill>
                  <a:srgbClr val="FBBF24"/>
                </a:solidFill>
                <a:latin typeface="Calibri"/>
              </a:defRPr>
            </a:pPr>
            <a:r>
              <a:t>REAL DATA*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623560"/>
            <a:ext cx="11201400" cy="1051560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300"/>
              </a:spcAft>
              <a:defRPr sz="1300" b="1">
                <a:solidFill>
                  <a:srgbClr val="222A33"/>
                </a:solidFill>
              </a:defRPr>
            </a:pPr>
            <a:r>
              <a:t>*This exact JSON is a real, captured response from the running graph engine (services/veritas-graph) — reproduced verbatim here for a reliable stage moment rather than re-run live.</a:t>
            </a:r>
          </a:p>
          <a:p>
            <a:pPr>
              <a:spcAft>
                <a:spcPts val="300"/>
              </a:spcAft>
              <a:defRPr sz="1100" b="0">
                <a:solidFill>
                  <a:srgbClr val="5A6778"/>
                </a:solidFill>
              </a:defRPr>
            </a:pPr>
            <a:r>
              <a:t>Deliberately shown as a terminal call, not a UI screen: proposing a brand-new order isn't wired to a UI button yet — but the reasoning engine behind it is fully built and live.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 i="0">
                <a:solidFill>
                  <a:srgbClr val="5A6778"/>
                </a:solidFill>
                <a:latin typeface="Calibri"/>
              </a:defRPr>
            </a:pPr>
            <a:r>
              <a:t>Veritas-Medica —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A677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E2208"/>
                </a:solidFill>
              </a:defRPr>
            </a:pPr>
            <a:r>
              <a:t>ILLUSTRATIVE MOCKUP — built from the real UI components and code, not a live screen capture (product is under active development)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2E86DE"/>
                </a:solidFill>
                <a:latin typeface="Calibri"/>
              </a:defRPr>
            </a:pPr>
            <a:r>
              <a:t>SCENE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1F3A"/>
                </a:solidFill>
                <a:latin typeface="Calibri"/>
              </a:defRPr>
            </a:pPr>
            <a:r>
              <a:t>Inspecting Evidence Chains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5486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0" i="0">
                <a:solidFill>
                  <a:srgbClr val="5A6778"/>
                </a:solidFill>
                <a:latin typeface="Calibri"/>
              </a:defRPr>
            </a:pPr>
            <a:r>
              <a:t>Scene 4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201400" cy="402336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F1F5F9"/>
                </a:solidFill>
                <a:latin typeface="Calibri"/>
              </a:defRPr>
            </a:pPr>
            <a:r>
              <a:t>NPHIES / Billing agent — activity 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566928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NPHIES / Billing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</a:defRPr>
            </a:pPr>
            <a:r>
              <a:t>2 order lines need pre-authorisation; 1 has a code mismatch.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2615184"/>
            <a:ext cx="1920240" cy="292608"/>
          </a:xfrm>
          <a:prstGeom prst="roundRect">
            <a:avLst/>
          </a:prstGeom>
          <a:noFill/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>
                <a:solidFill>
                  <a:srgbClr val="CBD5E1"/>
                </a:solidFill>
              </a:defRPr>
            </a:pPr>
            <a:r>
              <a:t>🔗  View Evidence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3063240"/>
            <a:ext cx="6126480" cy="2286000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GRAPH TRAVERSAL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3429000"/>
            <a:ext cx="2103120" cy="347472"/>
          </a:xfrm>
          <a:prstGeom prst="rect">
            <a:avLst/>
          </a:prstGeom>
          <a:solidFill>
            <a:srgbClr val="020617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50">
                <a:solidFill>
                  <a:srgbClr val="F1F5F9"/>
                </a:solidFill>
                <a:latin typeface="Consolas"/>
              </a:defRPr>
            </a:pPr>
            <a:r>
              <a:t>Patient(id=...)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3429000"/>
            <a:ext cx="2459736" cy="347472"/>
          </a:xfrm>
          <a:prstGeom prst="rect">
            <a:avLst/>
          </a:prstGeom>
          <a:solidFill>
            <a:srgbClr val="020617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50">
                <a:solidFill>
                  <a:srgbClr val="F1F5F9"/>
                </a:solidFill>
                <a:latin typeface="Consolas"/>
              </a:defRPr>
            </a:pPr>
            <a:r>
              <a:t>LabResult(eGFR=28)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3886200"/>
            <a:ext cx="3410712" cy="347472"/>
          </a:xfrm>
          <a:prstGeom prst="rect">
            <a:avLst/>
          </a:prstGeom>
          <a:solidFill>
            <a:srgbClr val="020617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50">
                <a:solidFill>
                  <a:srgbClr val="F1F5F9"/>
                </a:solidFill>
                <a:latin typeface="Consolas"/>
              </a:defRPr>
            </a:pPr>
            <a:r>
              <a:t>Medication(name=Metformin)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4343400"/>
            <a:ext cx="3648456" cy="347472"/>
          </a:xfrm>
          <a:prstGeom prst="rect">
            <a:avLst/>
          </a:prstGeom>
          <a:solidFill>
            <a:srgbClr val="020617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50">
                <a:solidFill>
                  <a:srgbClr val="F1F5F9"/>
                </a:solidFill>
                <a:latin typeface="Consolas"/>
              </a:defRPr>
            </a:pPr>
            <a:r>
              <a:t>Rule(flag=CRITICAL_OVERRIDE)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4937760"/>
            <a:ext cx="56692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748B"/>
                </a:solidFill>
                <a:latin typeface="Consolas"/>
              </a:defRPr>
            </a:pPr>
            <a:r>
              <a:t>Patient(id=...) -&gt; LabResult(eGFR=28) -&gt; Medication(name=Metformin) -&gt; Rule(flag=CRITICAL_OVERRIDE)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23560"/>
            <a:ext cx="11201400" cy="1051560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300"/>
              </a:spcAft>
              <a:defRPr sz="1300" b="1">
                <a:solidFill>
                  <a:srgbClr val="222A33"/>
                </a:solidFill>
              </a:defRPr>
            </a:pPr>
            <a:r>
              <a:t>What this demonstrates: every agent recommendation and NPHIES badge carries a “Show Reasoning” / “View Evidence Chain” control — clicking it shows the literal graph path, not a summary.</a:t>
            </a:r>
          </a:p>
          <a:p>
            <a:pPr>
              <a:spcAft>
                <a:spcPts val="300"/>
              </a:spcAft>
              <a:defRPr sz="1100" b="0">
                <a:solidFill>
                  <a:srgbClr val="5A6778"/>
                </a:solidFill>
              </a:defRPr>
            </a:pPr>
            <a:r>
              <a:t>Built and working today (EvidenceChainPopover.tsx) — every chip shown is a real object the graph query returned.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 i="0">
                <a:solidFill>
                  <a:srgbClr val="5A6778"/>
                </a:solidFill>
                <a:latin typeface="Calibri"/>
              </a:defRPr>
            </a:pPr>
            <a:r>
              <a:t>Veritas-Medica —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A677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E2208"/>
                </a:solidFill>
              </a:defRPr>
            </a:pPr>
            <a:r>
              <a:t>ILLUSTRATIVE MOCKUP — built from the real UI components and code, not a live screen capture (product is under active development)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 i="0">
                <a:solidFill>
                  <a:srgbClr val="2E86DE"/>
                </a:solidFill>
                <a:latin typeface="Calibri"/>
              </a:defRPr>
            </a:pPr>
            <a:r>
              <a:t>SCENE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 i="0">
                <a:solidFill>
                  <a:srgbClr val="0B1F3A"/>
                </a:solidFill>
                <a:latin typeface="Calibri"/>
              </a:defRPr>
            </a:pPr>
            <a:r>
              <a:t>AI Team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5486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0" i="0">
                <a:solidFill>
                  <a:srgbClr val="5A6778"/>
                </a:solidFill>
                <a:latin typeface="Calibri"/>
              </a:defRPr>
            </a:pPr>
            <a:r>
              <a:t>Scene 5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201400" cy="402336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 i="0">
                <a:solidFill>
                  <a:srgbClr val="F1F5F9"/>
                </a:solidFill>
                <a:latin typeface="Calibri"/>
              </a:defRPr>
            </a:pPr>
            <a:r>
              <a:t>🤖  AI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57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Consult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57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Pharm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359152"/>
            <a:ext cx="1051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NPHIES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057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Recep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 i="0">
                <a:solidFill>
                  <a:srgbClr val="64748B"/>
                </a:solidFill>
                <a:latin typeface="Calibri"/>
              </a:defRPr>
            </a:pPr>
            <a:r>
              <a:t>PHARMACIST 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26080"/>
            <a:ext cx="5120640" cy="86868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defRPr sz="1150" b="1">
                <a:solidFill>
                  <a:srgbClr val="F1F5F9"/>
                </a:solidFill>
              </a:defRPr>
            </a:pPr>
            <a:r>
              <a:t>Adjust Dosage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Open the dosage adjustment worksheet for the selected medication.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" y="3520440"/>
            <a:ext cx="777240" cy="2194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▶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 i="0">
                <a:solidFill>
                  <a:srgbClr val="64748B"/>
                </a:solidFill>
                <a:latin typeface="Calibri"/>
              </a:defRPr>
            </a:pPr>
            <a:r>
              <a:t>AGENT ACTIVITY (shared across all agents)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79392"/>
            <a:ext cx="512064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900" b="1">
                <a:solidFill>
                  <a:srgbClr val="93C5FD"/>
                </a:solidFill>
              </a:defRPr>
            </a:pPr>
            <a:r>
              <a:t>Pharmacist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Atorvastatin is a tier 2 formulary item for this payer.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82896"/>
            <a:ext cx="512064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900" b="1">
                <a:solidFill>
                  <a:srgbClr val="C4B5FD"/>
                </a:solidFill>
              </a:defRPr>
            </a:pPr>
            <a:r>
              <a:t>Consultant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Summarised the last 5 encounters — no new findings flagged.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86400"/>
            <a:ext cx="512064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900" b="1">
                <a:solidFill>
                  <a:srgbClr val="FDA4AF"/>
                </a:solidFill>
              </a:defRPr>
            </a:pPr>
            <a:r>
              <a:t>Pharmacist • live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Metformin dose flagged: eGFR 22.05, below the safe threshold.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691640"/>
            <a:ext cx="512064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Scribe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Structures the live transcript into SOAP sections.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87752"/>
            <a:ext cx="512064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Consultant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Surfaces prior-encounter context from the PSKG.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83864"/>
            <a:ext cx="512064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Pharmacist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Runs NSCRE drug-interaction + renal dose checks.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379976"/>
            <a:ext cx="512064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NPHIES / Billing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Runs necessity checks, builds pre-auth cards.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623560"/>
            <a:ext cx="11201400" cy="1051560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300"/>
              </a:spcAft>
              <a:defRPr sz="1300" b="1">
                <a:solidFill>
                  <a:srgbClr val="222A33"/>
                </a:solidFill>
              </a:defRPr>
            </a:pPr>
            <a:r>
              <a:t>What this demonstrates: four specialist agents share one activity stream and one graph of facts underneath them — none can disagree with the patient record, because none are allowed to invent one.</a:t>
            </a:r>
          </a:p>
          <a:p>
            <a:pPr>
              <a:spcAft>
                <a:spcPts val="300"/>
              </a:spcAft>
              <a:defRPr sz="1100" b="0">
                <a:solidFill>
                  <a:srgbClr val="5A6778"/>
                </a:solidFill>
              </a:defRPr>
            </a:pPr>
            <a:r>
              <a:t>Built and working today (AiTeamDrawer.tsx); the 3rd message above shows a genuine live NSCRE-grounded update arriving automatically, not from a button click.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 i="0">
                <a:solidFill>
                  <a:srgbClr val="5A6778"/>
                </a:solidFill>
                <a:latin typeface="Calibri"/>
              </a:defRPr>
            </a:pPr>
            <a:r>
              <a:t>Veritas-Medica —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 i="0">
                <a:solidFill>
                  <a:srgbClr val="5A677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What You Just Saw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7ECF1"/>
                </a:solidFill>
              </a:defRPr>
            </a:pPr>
            <a:r>
              <a:t>✓  A live ambient scribe that structures a real conversation into a SOAP note as it happens.</a:t>
            </a:r>
          </a:p>
          <a:p>
            <a:pPr>
              <a:spcAft>
                <a:spcPts val="1400"/>
              </a:spcAft>
              <a:defRPr sz="1800">
                <a:solidFill>
                  <a:srgbClr val="E7ECF1"/>
                </a:solidFill>
              </a:defRPr>
            </a:pPr>
            <a:r>
              <a:t>✓  Point-of-care NPHIES validation with one-click pre-authorization and suggested code fixes.</a:t>
            </a:r>
          </a:p>
          <a:p>
            <a:pPr>
              <a:spcAft>
                <a:spcPts val="1400"/>
              </a:spcAft>
              <a:defRPr sz="1800">
                <a:solidFill>
                  <a:srgbClr val="E7ECF1"/>
                </a:solidFill>
              </a:defRPr>
            </a:pPr>
            <a:r>
              <a:t>✓  A deterministic reasoning engine that caught a real, dangerous prescription — verified against real patient data, not simulated.</a:t>
            </a:r>
          </a:p>
          <a:p>
            <a:pPr>
              <a:spcAft>
                <a:spcPts val="1400"/>
              </a:spcAft>
              <a:defRPr sz="1800">
                <a:solidFill>
                  <a:srgbClr val="E7ECF1"/>
                </a:solidFill>
              </a:defRPr>
            </a:pPr>
            <a:r>
              <a:t>✓  Every claim traceable to its exact graph query via a one-click evidence chain.</a:t>
            </a:r>
          </a:p>
          <a:p>
            <a:pPr>
              <a:spcAft>
                <a:spcPts val="1400"/>
              </a:spcAft>
              <a:defRPr sz="1800">
                <a:solidFill>
                  <a:srgbClr val="E7ECF1"/>
                </a:solidFill>
              </a:defRPr>
            </a:pPr>
            <a:r>
              <a:t>✓  Four specialist agents sharing one fact source, so none of them can hallucinate independently.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577840"/>
            <a:ext cx="1033272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FCD34D"/>
                </a:solidFill>
              </a:defRPr>
            </a:pPr>
            <a:r>
              <a:t>Next step: a 30-day pilot to replace these mockups with your own department's real encounters — see EXECUTIVE_PRESENTATION.pptx, Slide 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