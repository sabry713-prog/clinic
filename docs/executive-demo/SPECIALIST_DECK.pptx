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2011680"/>
            <a:ext cx="5852160" cy="5852160"/>
          </a:xfrm>
          <a:prstGeom prst="ellipse">
            <a:avLst/>
          </a:prstGeom>
          <a:noFill/>
          <a:ln w="19050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914400"/>
            <a:ext cx="3657600" cy="365760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C1FF"/>
                </a:solidFill>
                <a:latin typeface="Segoe UI"/>
              </a:rPr>
              <a:t>VERITAS-MEDICA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83664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400" b="1">
                <a:solidFill>
                  <a:srgbClr val="F4F7FC"/>
                </a:solidFill>
                <a:latin typeface="Segoe UI"/>
              </a:rPr>
              <a:t>Clinical AI</a:t>
            </a:r>
          </a:p>
          <a:p>
            <a:pPr algn="l">
              <a:lnSpc>
                <a:spcPct val="104000"/>
              </a:lnSpc>
            </a:pPr>
            <a:r>
              <a:rPr sz="5400" b="1">
                <a:solidFill>
                  <a:srgbClr val="F4F7FC"/>
                </a:solidFill>
                <a:latin typeface="Segoe UI"/>
              </a:rPr>
              <a:t>you can </a:t>
            </a:r>
            <a:r>
              <a:rPr sz="5400" b="1">
                <a:solidFill>
                  <a:srgbClr val="3E8BFF"/>
                </a:solidFill>
                <a:latin typeface="Segoe UI"/>
              </a:rPr>
              <a:t>trust</a:t>
            </a:r>
            <a:r>
              <a:rPr sz="5400" b="1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41648"/>
            <a:ext cx="822960" cy="45720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15968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A9B6CC"/>
                </a:solidFill>
                <a:latin typeface="Segoe UI"/>
              </a:rPr>
              <a:t>Documentation and claim protection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A9B6CC"/>
                </a:solidFill>
                <a:latin typeface="Segoe UI"/>
              </a:rPr>
              <a:t>for Saudi hospitals.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424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4243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C"/>
                </a:solidFill>
                <a:latin typeface="Segoe UI"/>
              </a:rPr>
              <a:t>Your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5742432"/>
            <a:ext cx="274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A93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574243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574243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E8BFF"/>
                </a:solidFill>
                <a:latin typeface="Segoe UI"/>
              </a:rPr>
              <a:t>Verified 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5742432"/>
            <a:ext cx="274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A93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5742432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5742432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C"/>
                </a:solidFill>
                <a:latin typeface="Segoe UI"/>
              </a:rPr>
              <a:t>Your clinicians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786384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C"/>
                </a:solidFill>
                <a:latin typeface="Segoe UI"/>
              </a:rPr>
              <a:t>Medicine's hardest problems aren't medical.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31136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E8BF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054096"/>
            <a:ext cx="2779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4F7FC"/>
                </a:solidFill>
                <a:latin typeface="Segoe UI"/>
              </a:rPr>
              <a:t>3+ hours lost every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877056"/>
            <a:ext cx="2779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A9B6CC"/>
                </a:solidFill>
                <a:latin typeface="Segoe UI"/>
              </a:rPr>
              <a:t>Clinicians spend more time documenting than treating.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3856" y="453542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535424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A93"/>
                </a:solidFill>
                <a:latin typeface="Segoe UI"/>
              </a:rPr>
              <a:t>US/EU figure — not Saudi-validated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92024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231136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E8B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054096"/>
            <a:ext cx="2779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4F7FC"/>
                </a:solidFill>
                <a:latin typeface="Segoe UI"/>
              </a:rPr>
              <a:t>1 in 7 claims 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77056"/>
            <a:ext cx="2779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A9B6CC"/>
                </a:solidFill>
                <a:latin typeface="Segoe UI"/>
              </a:rPr>
              <a:t>Errors surface after submission — the revenue is gone.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4535424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535424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A93"/>
                </a:solidFill>
                <a:latin typeface="Segoe UI"/>
              </a:rPr>
              <a:t>US/EU figure — not Saudi-validated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1920240"/>
            <a:ext cx="3401568" cy="310896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2231136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E8BFF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054096"/>
            <a:ext cx="277977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4F7FC"/>
                </a:solidFill>
                <a:latin typeface="Segoe UI"/>
              </a:rPr>
              <a:t>AI you can't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877056"/>
            <a:ext cx="2779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A9B6CC"/>
                </a:solidFill>
                <a:latin typeface="Segoe UI"/>
              </a:rPr>
              <a:t>Generative tools can sound confident and still be wrong.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OUR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8595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1D2B45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14884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4F7FC"/>
                </a:solidFill>
                <a:latin typeface="Segoe UI"/>
              </a:rPr>
              <a:t>AI grounded in </a:t>
            </a:r>
            <a:r>
              <a:rPr sz="4400" b="1">
                <a:solidFill>
                  <a:srgbClr val="3E8BFF"/>
                </a:solidFill>
                <a:latin typeface="Segoe UI"/>
              </a:rPr>
              <a:t>your patient's record</a:t>
            </a:r>
            <a:r>
              <a:rPr sz="4400" b="1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A9B6CC"/>
                </a:solidFill>
                <a:latin typeface="Segoe UI"/>
              </a:rPr>
              <a:t>Rule findings are deterministic and inspectable; </a:t>
            </a:r>
            <a:r>
              <a:rPr sz="2200" b="1">
                <a:solidFill>
                  <a:srgbClr val="F4F7FC"/>
                </a:solidFill>
                <a:latin typeface="Segoe UI"/>
              </a:rPr>
              <a:t>the clinician confirms before anything enters the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754880"/>
            <a:ext cx="822960" cy="45720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029200"/>
            <a:ext cx="9509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A93"/>
                </a:solidFill>
                <a:latin typeface="Segoe UI"/>
              </a:rPr>
              <a:t>The architecture separates fact retrieval from language formatting — enforced by our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SEEING IS BELIEVING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4F7FC"/>
                </a:solidFill>
                <a:latin typeface="Segoe UI"/>
              </a:rPr>
              <a:t>Don't take our word for it. </a:t>
            </a:r>
            <a:r>
              <a:rPr sz="3200" b="1">
                <a:solidFill>
                  <a:srgbClr val="3E8BFF"/>
                </a:solidFill>
                <a:latin typeface="Segoe UI"/>
              </a:rPr>
              <a:t>Check 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43032" cy="1417320"/>
          </a:xfrm>
          <a:prstGeom prst="roundRect">
            <a:avLst>
              <a:gd name="adj" fmla="val 5000"/>
            </a:avLst>
          </a:prstGeom>
          <a:solidFill>
            <a:srgbClr val="0A0F1A"/>
          </a:solidFill>
          <a:ln w="12700">
            <a:solidFill>
              <a:srgbClr val="1D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2752344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43583" y="2752344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40" y="2752344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990088"/>
            <a:ext cx="1003096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FD68F"/>
                </a:solidFill>
                <a:latin typeface="Consolas"/>
              </a:rPr>
              <a:t>  ✓ </a:t>
            </a:r>
            <a:r>
              <a:rPr sz="1350" b="0">
                <a:solidFill>
                  <a:srgbClr val="A9B6CC"/>
                </a:solidFill>
                <a:latin typeface="Consolas"/>
              </a:rPr>
              <a:t>Diagnosis on file:   </a:t>
            </a:r>
            <a:r>
              <a:rPr sz="1350" b="0">
                <a:solidFill>
                  <a:srgbClr val="F4F7FC"/>
                </a:solidFill>
                <a:latin typeface="Consolas"/>
              </a:rPr>
              <a:t>Hypertension (I10)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FD68F"/>
                </a:solidFill>
                <a:latin typeface="Consolas"/>
              </a:rPr>
              <a:t>  ✓ </a:t>
            </a:r>
            <a:r>
              <a:rPr sz="1350" b="0">
                <a:solidFill>
                  <a:srgbClr val="A9B6CC"/>
                </a:solidFill>
                <a:latin typeface="Consolas"/>
              </a:rPr>
              <a:t>Service covered:     </a:t>
            </a:r>
            <a:r>
              <a:rPr sz="1350" b="0">
                <a:solidFill>
                  <a:srgbClr val="F4F7FC"/>
                </a:solidFill>
                <a:latin typeface="Consolas"/>
              </a:rPr>
              <a:t>Consultation 11700-00-10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FD68F"/>
                </a:solidFill>
                <a:latin typeface="Consolas"/>
              </a:rPr>
              <a:t>  ✓ </a:t>
            </a:r>
            <a:r>
              <a:rPr sz="1350" b="0">
                <a:solidFill>
                  <a:srgbClr val="A9B6CC"/>
                </a:solidFill>
                <a:latin typeface="Consolas"/>
              </a:rPr>
              <a:t>Necessity rule:      </a:t>
            </a:r>
            <a:r>
              <a:rPr sz="1350" b="0">
                <a:solidFill>
                  <a:srgbClr val="3FD68F"/>
                </a:solidFill>
                <a:latin typeface="Consolas"/>
              </a:rPr>
              <a:t>Matched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8FC1FF"/>
                </a:solidFill>
                <a:latin typeface="Consolas"/>
              </a:rPr>
              <a:t>  ▸ </a:t>
            </a:r>
            <a:r>
              <a:rPr sz="1350" b="0">
                <a:solidFill>
                  <a:srgbClr val="8FC1FF"/>
                </a:solidFill>
                <a:latin typeface="Consolas"/>
              </a:rPr>
              <a:t>VERDICT: </a:t>
            </a:r>
            <a:r>
              <a:rPr sz="1350" b="1">
                <a:solidFill>
                  <a:srgbClr val="3FD68F"/>
                </a:solidFill>
                <a:latin typeface="Consolas"/>
              </a:rPr>
              <a:t>READY — submit with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06240"/>
            <a:ext cx="10543032" cy="1371600"/>
          </a:xfrm>
          <a:prstGeom prst="roundRect">
            <a:avLst>
              <a:gd name="adj" fmla="val 5000"/>
            </a:avLst>
          </a:prstGeom>
          <a:solidFill>
            <a:srgbClr val="0A0F1A"/>
          </a:solidFill>
          <a:ln w="12700">
            <a:solidFill>
              <a:srgbClr val="1D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4352544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43583" y="4352544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63040" y="4352544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90288"/>
            <a:ext cx="10030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FD68F"/>
                </a:solidFill>
                <a:latin typeface="Consolas"/>
              </a:rPr>
              <a:t>  ✓ </a:t>
            </a:r>
            <a:r>
              <a:rPr sz="1350" b="0">
                <a:solidFill>
                  <a:srgbClr val="A9B6CC"/>
                </a:solidFill>
                <a:latin typeface="Consolas"/>
              </a:rPr>
              <a:t>Patient record:      </a:t>
            </a:r>
            <a:r>
              <a:rPr sz="1350" b="0">
                <a:solidFill>
                  <a:srgbClr val="F4F7FC"/>
                </a:solidFill>
                <a:latin typeface="Consolas"/>
              </a:rPr>
              <a:t>kidney function 28% — this week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FD68F"/>
                </a:solidFill>
                <a:latin typeface="Consolas"/>
              </a:rPr>
              <a:t>  ✓ </a:t>
            </a:r>
            <a:r>
              <a:rPr sz="1350" b="0">
                <a:solidFill>
                  <a:srgbClr val="A9B6CC"/>
                </a:solidFill>
                <a:latin typeface="Consolas"/>
              </a:rPr>
              <a:t>Active medication:   </a:t>
            </a:r>
            <a:r>
              <a:rPr sz="1350" b="0">
                <a:solidFill>
                  <a:srgbClr val="F4F7FC"/>
                </a:solidFill>
                <a:latin typeface="Consolas"/>
              </a:rPr>
              <a:t>Metformin 1000mg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3FD68F"/>
                </a:solidFill>
                <a:latin typeface="Consolas"/>
              </a:rPr>
              <a:t>  ✓ </a:t>
            </a:r>
            <a:r>
              <a:rPr sz="1350" b="0">
                <a:solidFill>
                  <a:srgbClr val="A9B6CC"/>
                </a:solidFill>
                <a:latin typeface="Consolas"/>
              </a:rPr>
              <a:t>Safety rule:         </a:t>
            </a:r>
            <a:r>
              <a:rPr sz="1350" b="0">
                <a:solidFill>
                  <a:srgbClr val="F4F7FC"/>
                </a:solidFill>
                <a:latin typeface="Consolas"/>
              </a:rPr>
              <a:t>renal threshold crossed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8FC1FF"/>
                </a:solidFill>
                <a:latin typeface="Consolas"/>
              </a:rPr>
              <a:t>  ▸ </a:t>
            </a:r>
            <a:r>
              <a:rPr sz="1350" b="0">
                <a:solidFill>
                  <a:srgbClr val="8FC1FF"/>
                </a:solidFill>
                <a:latin typeface="Consolas"/>
              </a:rPr>
              <a:t>ALERT: </a:t>
            </a:r>
            <a:r>
              <a:rPr sz="1350" b="0">
                <a:solidFill>
                  <a:srgbClr val="F5B84C"/>
                </a:solidFill>
                <a:latin typeface="Consolas"/>
              </a:rPr>
              <a:t>dose review 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05856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A93"/>
                </a:solidFill>
                <a:latin typeface="Segoe UI"/>
              </a:rPr>
              <a:t>Proof follows every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6053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05332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C"/>
                </a:solidFill>
                <a:latin typeface="Segoe UI"/>
              </a:rPr>
              <a:t>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0904" y="6053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0904" y="605332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C"/>
                </a:solidFill>
                <a:latin typeface="Segoe UI"/>
              </a:rPr>
              <a:t>Drug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8848" y="6053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605332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C"/>
                </a:solidFill>
                <a:latin typeface="Segoe UI"/>
              </a:rPr>
              <a:t>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605332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6053328"/>
            <a:ext cx="1691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C"/>
                </a:solidFill>
                <a:latin typeface="Segoe UI"/>
              </a:rPr>
              <a:t>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MORE MEDICINE, LESS KEYBOARD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4F7FC"/>
                </a:solidFill>
                <a:latin typeface="Segoe UI"/>
              </a:rPr>
              <a:t>The note </a:t>
            </a:r>
            <a:r>
              <a:rPr sz="3600" b="1">
                <a:solidFill>
                  <a:srgbClr val="3E8BFF"/>
                </a:solidFill>
                <a:latin typeface="Segoe UI"/>
              </a:rPr>
              <a:t>writes itself</a:t>
            </a:r>
            <a:r>
              <a:rPr sz="3600" b="1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493008"/>
            <a:ext cx="457200" cy="45720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F4F7FC"/>
                </a:solidFill>
                <a:latin typeface="Segoe UI"/>
              </a:rPr>
              <a:t>Arabic &amp;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Real consultation language — both, in one visit.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320040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8304" y="3493008"/>
            <a:ext cx="457200" cy="45720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3703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F4F7FC"/>
                </a:solidFill>
                <a:latin typeface="Segoe UI"/>
              </a:rPr>
              <a:t>The doctor stays in charge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45720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Nothing is applied without review and signature.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320040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8" y="3493008"/>
            <a:ext cx="457200" cy="45720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3703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F4F7FC"/>
                </a:solidFill>
                <a:latin typeface="Segoe UI"/>
              </a:rPr>
              <a:t>Hours back, every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720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Target: −65% documentation time, measured in your pilot.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PROTECT THE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7FC"/>
                </a:solidFill>
                <a:latin typeface="Segoe UI"/>
              </a:rPr>
              <a:t>Find the error </a:t>
            </a:r>
            <a:r>
              <a:rPr sz="3200" b="1">
                <a:solidFill>
                  <a:srgbClr val="3E8BFF"/>
                </a:solidFill>
                <a:latin typeface="Segoe UI"/>
              </a:rPr>
              <a:t>before the payer does</a:t>
            </a:r>
            <a:r>
              <a:rPr sz="3200" b="1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0">
                <a:solidFill>
                  <a:srgbClr val="8FC1FF"/>
                </a:solidFill>
                <a:latin typeface="Segoe UI"/>
              </a:rPr>
              <a:t>تحقق قبل الإرسال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Check before you send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Every claim is verified — verdict before submission.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342900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70332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Fix it on the spot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443484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The right code is suggested while the doctor is still there.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3429000"/>
            <a:ext cx="3401568" cy="21031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70332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Revenue that stays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434840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Fewer rejections — found by you, not by the payer.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5074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507492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7A93"/>
                </a:solidFill>
                <a:latin typeface="Segoe UI"/>
              </a:rPr>
              <a:t>target: −85% rejections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SAFETY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21408"/>
            <a:ext cx="329184" cy="329184"/>
          </a:xfrm>
          <a:prstGeom prst="ellipse">
            <a:avLst/>
          </a:prstGeom>
          <a:solidFill>
            <a:srgbClr val="0F2A1F"/>
          </a:solidFill>
          <a:ln w="17780">
            <a:solidFill>
              <a:srgbClr val="3FD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2140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FD68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751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The record decides what's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C"/>
                </a:solidFill>
                <a:latin typeface="Segoe UI"/>
              </a:rPr>
              <a:t>Rule findings come from deterministic graph queries; never from the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71215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163823"/>
            <a:ext cx="329184" cy="329184"/>
          </a:xfrm>
          <a:prstGeom prst="ellipse">
            <a:avLst/>
          </a:prstGeom>
          <a:solidFill>
            <a:srgbClr val="0F2A1F"/>
          </a:solidFill>
          <a:ln w="17780">
            <a:solidFill>
              <a:srgbClr val="3FD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6382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FD68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017519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Doctors sign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054095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C"/>
                </a:solidFill>
                <a:latin typeface="Segoe UI"/>
              </a:rPr>
              <a:t>No note, order, or code is ever applied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1363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4206238"/>
            <a:ext cx="329184" cy="329184"/>
          </a:xfrm>
          <a:prstGeom prst="ellipse">
            <a:avLst/>
          </a:prstGeom>
          <a:solidFill>
            <a:srgbClr val="0F2A1F"/>
          </a:solidFill>
          <a:ln w="17780">
            <a:solidFill>
              <a:srgbClr val="3FD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0623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FD68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5993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Rule evidence is one click 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09651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C"/>
                </a:solidFill>
                <a:latin typeface="Segoe UI"/>
              </a:rPr>
              <a:t>Every deterministic finding shows the query and source facts.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56045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5248653"/>
            <a:ext cx="329184" cy="329184"/>
          </a:xfrm>
          <a:prstGeom prst="ellipse">
            <a:avLst/>
          </a:prstGeom>
          <a:solidFill>
            <a:srgbClr val="0F2A1F"/>
          </a:solidFill>
          <a:ln w="17780">
            <a:solidFill>
              <a:srgbClr val="3FD6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48653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FD68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102349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Reviewed outputs are versioned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138925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B6CC"/>
                </a:solidFill>
                <a:latin typeface="Segoe UI"/>
              </a:rPr>
              <a:t>Drafts, codes and links carry reviewer identity and timestamps.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A93"/>
                </a:solidFill>
                <a:latin typeface="Segoe UI"/>
              </a:rPr>
              <a:t>Generated text always requires clinician review; findings reflect loaded data and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BUILT FOR THE KINGDOM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8424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874519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Arabic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4027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Full RTL interface, Hijri dates, Arabic patient messages.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7179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62071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NPHIES-native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27831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Built for the national claims platform from day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5935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84962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Your data stays 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1538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In-Kingdom by design — inside your hospital, even.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4690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837175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Your AI, your walls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02935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The language engine can run on your own servers.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828800"/>
            <a:ext cx="5303520" cy="2377440"/>
          </a:xfrm>
          <a:prstGeom prst="roundRect">
            <a:avLst>
              <a:gd name="adj" fmla="val 5000"/>
            </a:avLst>
          </a:prstGeom>
          <a:solidFill>
            <a:srgbClr val="0A0F1A"/>
          </a:solidFill>
          <a:ln w="12700">
            <a:solidFill>
              <a:srgbClr val="1D2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36208" y="1975104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55663" y="1975104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0" y="1975104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2212848"/>
            <a:ext cx="479145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A93"/>
                </a:solidFill>
                <a:latin typeface="Consolas"/>
              </a:rPr>
              <a:t># WHERE PATIENT DATA LIVES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A9B6CC"/>
                </a:solidFill>
                <a:latin typeface="Consolas"/>
              </a:rPr>
              <a:t>Location   </a:t>
            </a:r>
            <a:r>
              <a:rPr sz="1300" b="0">
                <a:solidFill>
                  <a:srgbClr val="F4F7FC"/>
                </a:solidFill>
                <a:latin typeface="Consolas"/>
              </a:rPr>
              <a:t>inside your hospital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A9B6CC"/>
                </a:solidFill>
                <a:latin typeface="Consolas"/>
              </a:rPr>
              <a:t>Leaves     </a:t>
            </a:r>
            <a:r>
              <a:rPr sz="1300" b="0">
                <a:solidFill>
                  <a:srgbClr val="3FD68F"/>
                </a:solidFill>
                <a:latin typeface="Consolas"/>
              </a:rPr>
              <a:t>not in this configuration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A9B6CC"/>
                </a:solidFill>
                <a:latin typeface="Consolas"/>
              </a:rPr>
              <a:t>AI engine  </a:t>
            </a:r>
            <a:r>
              <a:rPr sz="1300" b="0">
                <a:solidFill>
                  <a:srgbClr val="F4F7FC"/>
                </a:solidFill>
                <a:latin typeface="Consolas"/>
              </a:rPr>
              <a:t>your servers — optional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434840"/>
            <a:ext cx="5303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A93"/>
                </a:solidFill>
                <a:latin typeface="Segoe UI"/>
              </a:rPr>
              <a:t>No foreign clouds. No exceptions. Self-hosting keeps every byte inside your walls.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A DAY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786384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C"/>
                </a:solidFill>
                <a:latin typeface="Segoe UI"/>
              </a:rPr>
              <a:t>One visit. Everything done.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1752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FC1FF"/>
                </a:solidFill>
                <a:latin typeface="Segoe UI"/>
              </a:rPr>
              <a:t>DURING THE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The note writes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The doctor just talks — in Arabic or English.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33672" y="3922776"/>
            <a:ext cx="182880" cy="182880"/>
          </a:xfrm>
          <a:prstGeom prst="rightArrow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3984" y="301752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18304" y="32918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4" y="3291840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FC1FF"/>
                </a:solidFill>
                <a:latin typeface="Segoe UI"/>
              </a:rPr>
              <a:t>AT THE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3886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The claim gets checked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8304" y="4434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Issues surface instantly, fixed on the spot.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54696" y="3922776"/>
            <a:ext cx="182880" cy="182880"/>
          </a:xfrm>
          <a:prstGeom prst="rightArrow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5008" y="3017520"/>
            <a:ext cx="3401568" cy="201168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39328" y="32918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291840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FC1FF"/>
                </a:solidFill>
                <a:latin typeface="Segoe UI"/>
              </a:rPr>
              <a:t>BY EVENING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8862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Everything is signed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4434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Notes done. Claims ready. No backlog.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A93"/>
                </a:solidFill>
                <a:latin typeface="Segoe UI"/>
              </a:rPr>
              <a:t>The documentation, the order, and the claim — finished in the same minute.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WHY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786384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F7FC"/>
                </a:solidFill>
                <a:latin typeface="Segoe UI"/>
              </a:rPr>
              <a:t>Others write notes. We guard the encounter.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10543032" cy="502920"/>
          </a:xfrm>
          <a:prstGeom prst="roundRect">
            <a:avLst>
              <a:gd name="adj" fmla="val 1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A93"/>
                </a:solidFill>
                <a:latin typeface="Segoe UI"/>
              </a:rPr>
              <a:t>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3852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A93"/>
                </a:solidFill>
                <a:latin typeface="Segoe UI"/>
              </a:rPr>
              <a:t>AMBIENT VENDORS 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3852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VERITAS-MEDICA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395728"/>
            <a:ext cx="10543032" cy="658368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560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Notes written during the visit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54203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FD68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54203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E8BFF"/>
                </a:solidFill>
                <a:latin typeface="Segoe U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27248"/>
            <a:ext cx="10543032" cy="658368"/>
          </a:xfrm>
          <a:prstGeom prst="roundRect">
            <a:avLst>
              <a:gd name="adj" fmla="val 8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Claims protected before 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735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A93"/>
                </a:solidFill>
                <a:latin typeface="Segoe U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2735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E8BFF"/>
                </a:solidFill>
                <a:latin typeface="Segoe U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58768"/>
            <a:ext cx="10543032" cy="658368"/>
          </a:xfrm>
          <a:prstGeom prst="roundRect">
            <a:avLst>
              <a:gd name="adj" fmla="val 8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0233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Proof behind every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050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A93"/>
                </a:solidFill>
                <a:latin typeface="Segoe U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0050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E8BFF"/>
                </a:solidFill>
                <a:latin typeface="Segoe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590288"/>
            <a:ext cx="10543032" cy="658368"/>
          </a:xfrm>
          <a:prstGeom prst="roundRect">
            <a:avLst>
              <a:gd name="adj" fmla="val 8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548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Runs inside your hospital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365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A93"/>
                </a:solidFill>
                <a:latin typeface="Segoe U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7365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E8B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A93"/>
                </a:solidFill>
                <a:latin typeface="Segoe UI"/>
              </a:rPr>
              <a:t>* typically — characterization, not a claim about any specific 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9B6CC"/>
                </a:solidFill>
                <a:latin typeface="Segoe UI"/>
              </a:rPr>
              <a:t>Notes are where it starts. </a:t>
            </a:r>
            <a:r>
              <a:rPr sz="1700" b="1">
                <a:solidFill>
                  <a:srgbClr val="F4F7FC"/>
                </a:solidFill>
                <a:latin typeface="Segoe UI"/>
              </a:rPr>
              <a:t>Trust and revenue are the difference.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OUR HONESTY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A5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FD68F"/>
                </a:solidFill>
                <a:latin typeface="Segoe UI"/>
              </a:rPr>
              <a:t>WHAT YOU SAW IS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6888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Every answer — and its proof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Notes, alerts and dashboards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Tamper-proof audit trail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Arabic + English, end to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8308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6A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84C"/>
                </a:solidFill>
                <a:latin typeface="Segoe UI"/>
              </a:rPr>
              <a:t>WHAT IS SIMULATED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46888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Patient data — synthetic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Payer connection — simulated</a:t>
            </a:r>
          </a:p>
          <a:p>
            <a:pPr algn="l">
              <a:lnSpc>
                <a:spcPct val="150000"/>
              </a:lnSpc>
            </a:pPr>
            <a:r>
              <a:rPr sz="1450" b="0">
                <a:solidFill>
                  <a:srgbClr val="F4F7FC"/>
                </a:solidFill>
                <a:latin typeface="Segoe UI"/>
              </a:rPr>
              <a:t>No real claim has been 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20640"/>
            <a:ext cx="10543032" cy="868680"/>
          </a:xfrm>
          <a:prstGeom prst="roundRect">
            <a:avLst>
              <a:gd name="adj" fmla="val 12000"/>
            </a:avLst>
          </a:prstGeom>
          <a:solidFill>
            <a:srgbClr val="101B2F"/>
          </a:solidFill>
          <a:ln w="12700">
            <a:solidFill>
              <a:srgbClr val="3E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43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4F7FC"/>
                </a:solidFill>
                <a:latin typeface="Segoe UI"/>
              </a:rPr>
              <a:t>A real product, shown on synthetic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THE 30-DAY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7FC"/>
                </a:solidFill>
                <a:latin typeface="Segoe UI"/>
              </a:rPr>
              <a:t>Prove it </a:t>
            </a:r>
            <a:r>
              <a:rPr sz="3200" b="1">
                <a:solidFill>
                  <a:srgbClr val="3E8BFF"/>
                </a:solidFill>
                <a:latin typeface="Segoe UI"/>
              </a:rPr>
              <a:t>in your hospital</a:t>
            </a:r>
            <a:r>
              <a:rPr sz="3200" b="1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0704" y="309067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09067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FC1FF"/>
                </a:solidFill>
                <a:latin typeface="Segoe UI"/>
              </a:rP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639312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406908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6CC"/>
                </a:solidFill>
                <a:latin typeface="Segoe UI"/>
              </a:rPr>
              <a:t>Read-only. Zero disruption.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28346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49040" y="309067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309067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FC1FF"/>
                </a:solidFill>
                <a:latin typeface="Segoe UI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639312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Shadow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06908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6CC"/>
                </a:solidFill>
                <a:latin typeface="Segoe UI"/>
              </a:rPr>
              <a:t>Runs alongside your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8346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309067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09067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FC1FF"/>
                </a:solidFill>
                <a:latin typeface="Segoe UI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639312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06908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6CC"/>
                </a:solidFill>
                <a:latin typeface="Segoe UI"/>
              </a:rPr>
              <a:t>Opt-in doctors, real encounters.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83464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25712" y="309067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0E182B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3090672"/>
            <a:ext cx="1051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FC1FF"/>
                </a:solidFill>
                <a:latin typeface="Segoe UI"/>
              </a:rP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3639312"/>
            <a:ext cx="19933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F7FC"/>
                </a:solidFill>
                <a:latin typeface="Segoe UI"/>
              </a:rPr>
              <a:t>Measure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406908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9B6CC"/>
                </a:solidFill>
                <a:latin typeface="Segoe UI"/>
              </a:rPr>
              <a:t>Time + rejections vs your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4F7FC"/>
                </a:solidFill>
                <a:latin typeface="Segoe UI"/>
              </a:rPr>
              <a:t>One department. Two champions. </a:t>
            </a:r>
            <a:r>
              <a:rPr sz="2100" b="1">
                <a:solidFill>
                  <a:srgbClr val="3E8BFF"/>
                </a:solidFill>
                <a:latin typeface="Segoe UI"/>
              </a:rPr>
              <a:t>Thirty days to proof.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noFill/>
          <a:ln w="15875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-777240"/>
            <a:ext cx="2834640" cy="28346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566928"/>
            <a:ext cx="292608" cy="41148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429768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C1FF"/>
                </a:solidFill>
                <a:latin typeface="Segoe UI"/>
              </a:rPr>
              <a:t>WHAT WE ASK OF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A93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A93"/>
                </a:solidFill>
                <a:latin typeface="Consola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E8BFF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Meet the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12724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A working session, live on synthetic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28800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031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E8BFF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Pick a 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12724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Internal medicine or cardiology to start.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5195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E8B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54879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Name two champions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76087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Clinicians who shape the workflow with 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977639"/>
            <a:ext cx="5120640" cy="1874519"/>
          </a:xfrm>
          <a:prstGeom prst="roundRect">
            <a:avLst>
              <a:gd name="adj" fmla="val 6000"/>
            </a:avLst>
          </a:prstGeom>
          <a:solidFill>
            <a:srgbClr val="141F35"/>
          </a:solidFill>
          <a:ln w="12700">
            <a:solidFill>
              <a:srgbClr val="26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25195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E8BFF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754879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F4F7FC"/>
                </a:solidFill>
                <a:latin typeface="Segoe UI"/>
              </a:rPr>
              <a:t>Grant the 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5276087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9B6CC"/>
                </a:solidFill>
                <a:latin typeface="Segoe UI"/>
              </a:rPr>
              <a:t>Thirty days — read-only first, measured together.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206240"/>
            <a:ext cx="5120640" cy="5120640"/>
          </a:xfrm>
          <a:prstGeom prst="ellipse">
            <a:avLst/>
          </a:prstGeom>
          <a:noFill/>
          <a:ln w="19050">
            <a:solidFill>
              <a:srgbClr val="162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-1645920"/>
            <a:ext cx="4206240" cy="4206240"/>
          </a:xfrm>
          <a:prstGeom prst="ellipse">
            <a:avLst/>
          </a:prstGeom>
          <a:noFill/>
          <a:ln w="12700">
            <a:solidFill>
              <a:srgbClr val="13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3E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4F7FC"/>
                </a:solidFill>
                <a:latin typeface="Segoe UI"/>
              </a:rPr>
              <a:t>Medicine deserves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4F7FC"/>
                </a:solidFill>
                <a:latin typeface="Segoe UI"/>
              </a:rPr>
              <a:t>AI it can </a:t>
            </a:r>
            <a:r>
              <a:rPr sz="4400" b="1">
                <a:solidFill>
                  <a:srgbClr val="3E8BFF"/>
                </a:solidFill>
                <a:latin typeface="Segoe UI"/>
              </a:rPr>
              <a:t>trust</a:t>
            </a:r>
            <a:r>
              <a:rPr sz="4400" b="1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C1FF"/>
                </a:solidFill>
                <a:latin typeface="Segoe UI"/>
              </a:rPr>
              <a:t>VERITAS-MEDICA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A93"/>
                </a:solidFill>
                <a:latin typeface="Segoe UI"/>
              </a:rPr>
              <a:t>Documentation and claim protection for Saudi hospitals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